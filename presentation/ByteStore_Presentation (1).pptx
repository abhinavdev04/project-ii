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audience. Introduce yourself and the project name. Keep this to about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read through the agenda, do not explain each point yet. About 10-15 seconds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slide, aim for 10-15 seconds. Just say what ByteStore is and that you are adding recommendations to it. Save the depth for the problem statement and algorithm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main slide — take your time here. Explain the human behavior point clearly: people who buy one thing tend to want related things, and current systems don't use that. Give the gaming laptop example if there's time. This is the slide that justifies the whole project, so don't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slide — take your time. Say the general objective first (build a smarter, personalized ByteStore), then the specific objective (how: CF + CBF with Cosine Similarity). Make clear these two are general vs specific, not two unrelated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about 15-20 seconds. Just name the model and say why it fits a solo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some systems (plain CRUD stores) don't personalize at all, but others, like Etsy, and even smaller open-source projects, already use the same two algorithms this project uses. This shows the approach is realistic and already proven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slide. If asked, clarify this isn't a trained ML model, so there's no GPU or training time needed, just a similarity calculation on existing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about 15 seconds, one sentence per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Backend talks to a separate Recommendation Engine, which runs both algorithms and sends back a ranked list. About 15-20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quickly: visit site, check purchase history and product attributes, calculate similarity, show ranked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main entities: customer, products, employee, admin, and how orders connect customers to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slide — this is the heart of the project, take your time. Explain that ContentScore comes from product attributes, CollaborativeScore comes from similar customers, and both get combined with weights alpha and beta into one FinalScore used to rank products. If asked why 0.5/0.5, say it gives both methods equal say, and could be tuned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slide. Explain the core difference in plain terms: one looks at other customers, the other looks at the product itself. Mention the cold-start point — a new customer has no history for collaborative filtering, but content-based filtering can still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slide. Walk through the worked example on the slide step by step if there's time — it's the clearest way to show the formula actually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project runs from mid-September 2026 to mid-February 2027, about five and a half months, with documentation running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what the finished project delivers. About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011680" cy="1097280"/>
          </a:xfrm>
          <a:prstGeom prst="rect">
            <a:avLst/>
          </a:prstGeom>
          <a:solidFill>
            <a:srgbClr val="FFFFFF"/>
          </a:solidFill>
          <a:ln w="12700">
            <a:solidFill>
              <a:srgbClr val="000000"/>
            </a:solidFill>
            <a:prstDash val="solid"/>
          </a:ln>
        </p:spPr>
      </p:sp>
      <p:sp>
        <p:nvSpPr>
          <p:cNvPr id="3" name="Text 1"/>
          <p:cNvSpPr txBox="1"/>
          <p:nvPr/>
        </p:nvSpPr>
        <p:spPr>
          <a:xfrm>
            <a:off x="548640" y="457200"/>
            <a:ext cx="2011680" cy="1097280"/>
          </a:xfrm>
          <a:prstGeom prst="rect">
            <a:avLst/>
          </a:prstGeom>
          <a:noFill/>
          <a:ln/>
        </p:spPr>
        <p:txBody>
          <a:bodyPr wrap="square" lIns="0" tIns="0" rIns="0" bIns="0" rtlCol="0" anchor="ctr"/>
          <a:lstStyle/>
          <a:p>
            <a:pPr algn="ctr" indent="0" marL="0">
              <a:buNone/>
            </a:pPr>
            <a:r>
              <a:rPr lang="en-US" sz="1400" i="1" dirty="0">
                <a:solidFill>
                  <a:srgbClr val="000000"/>
                </a:solidFill>
                <a:latin typeface="Times New Roman" pitchFamily="34" charset="0"/>
                <a:ea typeface="Times New Roman" pitchFamily="34" charset="-122"/>
                <a:cs typeface="Times New Roman" pitchFamily="34" charset="-120"/>
              </a:rPr>
              <a:t>[TU logo]</a:t>
            </a:r>
            <a:endParaRPr lang="en-US" sz="1400" dirty="0"/>
          </a:p>
        </p:txBody>
      </p:sp>
      <p:sp>
        <p:nvSpPr>
          <p:cNvPr id="4" name="Shape 2"/>
          <p:cNvSpPr/>
          <p:nvPr/>
        </p:nvSpPr>
        <p:spPr>
          <a:xfrm>
            <a:off x="9628632" y="457200"/>
            <a:ext cx="2011680" cy="1097280"/>
          </a:xfrm>
          <a:prstGeom prst="rect">
            <a:avLst/>
          </a:prstGeom>
          <a:solidFill>
            <a:srgbClr val="FFFFFF"/>
          </a:solidFill>
          <a:ln w="12700">
            <a:solidFill>
              <a:srgbClr val="000000"/>
            </a:solidFill>
            <a:prstDash val="solid"/>
          </a:ln>
        </p:spPr>
      </p:sp>
      <p:sp>
        <p:nvSpPr>
          <p:cNvPr id="5" name="Text 3"/>
          <p:cNvSpPr txBox="1"/>
          <p:nvPr/>
        </p:nvSpPr>
        <p:spPr>
          <a:xfrm>
            <a:off x="9628632" y="457200"/>
            <a:ext cx="2011680" cy="1097280"/>
          </a:xfrm>
          <a:prstGeom prst="rect">
            <a:avLst/>
          </a:prstGeom>
          <a:noFill/>
          <a:ln/>
        </p:spPr>
        <p:txBody>
          <a:bodyPr wrap="square" lIns="0" tIns="0" rIns="0" bIns="0" rtlCol="0" anchor="ctr"/>
          <a:lstStyle/>
          <a:p>
            <a:pPr algn="ctr" indent="0" marL="0">
              <a:buNone/>
            </a:pPr>
            <a:r>
              <a:rPr lang="en-US" sz="1400" i="1" dirty="0">
                <a:solidFill>
                  <a:srgbClr val="000000"/>
                </a:solidFill>
                <a:latin typeface="Times New Roman" pitchFamily="34" charset="0"/>
                <a:ea typeface="Times New Roman" pitchFamily="34" charset="-122"/>
                <a:cs typeface="Times New Roman" pitchFamily="34" charset="-120"/>
              </a:rPr>
              <a:t>[College logo]</a:t>
            </a:r>
            <a:endParaRPr lang="en-US" sz="1400" dirty="0"/>
          </a:p>
        </p:txBody>
      </p:sp>
      <p:sp>
        <p:nvSpPr>
          <p:cNvPr id="6" name="Text 4"/>
          <p:cNvSpPr txBox="1"/>
          <p:nvPr/>
        </p:nvSpPr>
        <p:spPr>
          <a:xfrm>
            <a:off x="0" y="1920240"/>
            <a:ext cx="12188952" cy="457200"/>
          </a:xfrm>
          <a:prstGeom prst="rect">
            <a:avLst/>
          </a:prstGeom>
          <a:noFill/>
          <a:ln/>
        </p:spPr>
        <p:txBody>
          <a:bodyPr wrap="square" lIns="0" tIns="0" rIns="0" bIns="0" rtlCol="0" anchor="ctr"/>
          <a:lstStyle/>
          <a:p>
            <a:pPr algn="ctr" indent="0" marL="0">
              <a:buNone/>
            </a:pPr>
            <a:r>
              <a:rPr lang="en-US" sz="2000" dirty="0">
                <a:solidFill>
                  <a:srgbClr val="000000"/>
                </a:solidFill>
                <a:latin typeface="Times New Roman" pitchFamily="34" charset="0"/>
                <a:ea typeface="Times New Roman" pitchFamily="34" charset="-122"/>
                <a:cs typeface="Times New Roman" pitchFamily="34" charset="-120"/>
              </a:rPr>
              <a:t>Tribhuvan University</a:t>
            </a:r>
            <a:endParaRPr lang="en-US" sz="2000" dirty="0"/>
          </a:p>
        </p:txBody>
      </p:sp>
      <p:sp>
        <p:nvSpPr>
          <p:cNvPr id="7" name="Text 5"/>
          <p:cNvSpPr txBox="1"/>
          <p:nvPr/>
        </p:nvSpPr>
        <p:spPr>
          <a:xfrm>
            <a:off x="0" y="2377440"/>
            <a:ext cx="12188952" cy="457200"/>
          </a:xfrm>
          <a:prstGeom prst="rect">
            <a:avLst/>
          </a:prstGeom>
          <a:noFill/>
          <a:ln/>
        </p:spPr>
        <p:txBody>
          <a:bodyPr wrap="square" lIns="0" tIns="0" rIns="0" bIns="0" rtlCol="0" anchor="ctr"/>
          <a:lstStyle/>
          <a:p>
            <a:pPr algn="ctr" indent="0" marL="0">
              <a:buNone/>
            </a:pPr>
            <a:r>
              <a:rPr lang="en-US" sz="1600" dirty="0">
                <a:solidFill>
                  <a:srgbClr val="000000"/>
                </a:solidFill>
                <a:latin typeface="Times New Roman" pitchFamily="34" charset="0"/>
                <a:ea typeface="Times New Roman" pitchFamily="34" charset="-122"/>
                <a:cs typeface="Times New Roman" pitchFamily="34" charset="-120"/>
              </a:rPr>
              <a:t>Faculty of Humanities and Social Sciences</a:t>
            </a:r>
            <a:endParaRPr lang="en-US" sz="1600" dirty="0"/>
          </a:p>
        </p:txBody>
      </p:sp>
      <p:sp>
        <p:nvSpPr>
          <p:cNvPr id="8" name="Text 6"/>
          <p:cNvSpPr txBox="1"/>
          <p:nvPr/>
        </p:nvSpPr>
        <p:spPr>
          <a:xfrm>
            <a:off x="0" y="3108960"/>
            <a:ext cx="12188952" cy="640080"/>
          </a:xfrm>
          <a:prstGeom prst="rect">
            <a:avLst/>
          </a:prstGeom>
          <a:noFill/>
          <a:ln/>
        </p:spPr>
        <p:txBody>
          <a:bodyPr wrap="square" lIns="0" tIns="0" rIns="0" bIns="0" rtlCol="0" anchor="ctr"/>
          <a:lstStyle/>
          <a:p>
            <a:pPr algn="ctr" indent="0" marL="0">
              <a:buNone/>
            </a:pPr>
            <a:r>
              <a:rPr lang="en-US" sz="3400" b="1" dirty="0">
                <a:solidFill>
                  <a:srgbClr val="000000"/>
                </a:solidFill>
                <a:latin typeface="Times New Roman" pitchFamily="34" charset="0"/>
                <a:ea typeface="Times New Roman" pitchFamily="34" charset="-122"/>
                <a:cs typeface="Times New Roman" pitchFamily="34" charset="-120"/>
              </a:rPr>
              <a:t>ByteStore</a:t>
            </a:r>
            <a:endParaRPr lang="en-US" sz="3400" dirty="0"/>
          </a:p>
        </p:txBody>
      </p:sp>
      <p:sp>
        <p:nvSpPr>
          <p:cNvPr id="9" name="Text 7"/>
          <p:cNvSpPr txBox="1"/>
          <p:nvPr/>
        </p:nvSpPr>
        <p:spPr>
          <a:xfrm>
            <a:off x="0" y="3703320"/>
            <a:ext cx="12188952" cy="548640"/>
          </a:xfrm>
          <a:prstGeom prst="rect">
            <a:avLst/>
          </a:prstGeom>
          <a:noFill/>
          <a:ln/>
        </p:spPr>
        <p:txBody>
          <a:bodyPr wrap="square" lIns="0" tIns="0" rIns="0" bIns="0" rtlCol="0" anchor="ctr"/>
          <a:lstStyle/>
          <a:p>
            <a:pPr algn="ctr" indent="0" marL="0">
              <a:buNone/>
            </a:pPr>
            <a:r>
              <a:rPr lang="en-US" sz="2200" i="1" dirty="0">
                <a:solidFill>
                  <a:srgbClr val="000000"/>
                </a:solidFill>
                <a:latin typeface="Times New Roman" pitchFamily="34" charset="0"/>
                <a:ea typeface="Times New Roman" pitchFamily="34" charset="-122"/>
                <a:cs typeface="Times New Roman" pitchFamily="34" charset="-120"/>
              </a:rPr>
              <a:t>An Intelligent E-Commerce Recommendation System</a:t>
            </a:r>
            <a:endParaRPr lang="en-US" sz="2200" dirty="0"/>
          </a:p>
        </p:txBody>
      </p:sp>
      <p:sp>
        <p:nvSpPr>
          <p:cNvPr id="10" name="Text 8"/>
          <p:cNvSpPr txBox="1"/>
          <p:nvPr/>
        </p:nvSpPr>
        <p:spPr>
          <a:xfrm>
            <a:off x="0" y="4846320"/>
            <a:ext cx="12188952" cy="365760"/>
          </a:xfrm>
          <a:prstGeom prst="rect">
            <a:avLst/>
          </a:prstGeom>
          <a:noFill/>
          <a:ln/>
        </p:spPr>
        <p:txBody>
          <a:bodyPr wrap="square" lIns="0" tIns="0" rIns="0" bIns="0" rtlCol="0" anchor="ctr"/>
          <a:lstStyle/>
          <a:p>
            <a:pPr algn="ctr" indent="0" marL="0">
              <a:buNone/>
            </a:pPr>
            <a:r>
              <a:rPr lang="en-US" sz="1800" dirty="0">
                <a:solidFill>
                  <a:srgbClr val="000000"/>
                </a:solidFill>
                <a:latin typeface="Times New Roman" pitchFamily="34" charset="0"/>
                <a:ea typeface="Times New Roman" pitchFamily="34" charset="-122"/>
                <a:cs typeface="Times New Roman" pitchFamily="34" charset="-120"/>
              </a:rPr>
              <a:t>Submitted by: Abhinav Sapkota</a:t>
            </a:r>
            <a:endParaRPr lang="en-US" sz="1800" dirty="0"/>
          </a:p>
        </p:txBody>
      </p:sp>
      <p:sp>
        <p:nvSpPr>
          <p:cNvPr id="11" name="Text 9"/>
          <p:cNvSpPr txBox="1"/>
          <p:nvPr/>
        </p:nvSpPr>
        <p:spPr>
          <a:xfrm>
            <a:off x="0" y="5212080"/>
            <a:ext cx="12188952" cy="365760"/>
          </a:xfrm>
          <a:prstGeom prst="rect">
            <a:avLst/>
          </a:prstGeom>
          <a:noFill/>
          <a:ln/>
        </p:spPr>
        <p:txBody>
          <a:bodyPr wrap="square" lIns="0" tIns="0" rIns="0" bIns="0" rtlCol="0" anchor="ctr"/>
          <a:lstStyle/>
          <a:p>
            <a:pPr algn="ctr" indent="0" marL="0">
              <a:buNone/>
            </a:pPr>
            <a:r>
              <a:rPr lang="en-US" sz="1800" dirty="0">
                <a:solidFill>
                  <a:srgbClr val="000000"/>
                </a:solidFill>
                <a:latin typeface="Times New Roman" pitchFamily="34" charset="0"/>
                <a:ea typeface="Times New Roman" pitchFamily="34" charset="-122"/>
                <a:cs typeface="Times New Roman" pitchFamily="34" charset="-120"/>
              </a:rPr>
              <a:t>Department of Computer Application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2</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Contents</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Introduction</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Problem Statement</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Objectives</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Methodology</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Existing System &amp; Literature Review</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Requirement Analysis &amp; Feasibility</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System Diagrams</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Algorithms</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Gantt Chart</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Expected Outcome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3</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Introduction</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ByteStore is a web-based e-commerce platform for technology products, built using PHP, MySQL, HTML, CSS, and JavaScript.</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Like most online stores, it currently shows every customer the same catalog, the same order of products, regardless of what they have bought before.</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This project adds a recommendation layer to ByteStore, using Collaborative Filtering and Content-Based Filtering, both powered by Cosine Similarity, to personalize what each customer sees.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4</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Problem Statement</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Most e-commerce systems, including large ones like Daraz, rely on manual search and category filtering.</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People naturally buy similar or related things, but current systems rarely use that pattern.</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Customers end up doing all the work: searching again and again, clicking through page after page.</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This project addresses that gap directly for ByteStore.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5</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Objectives</a:t>
            </a:r>
            <a:endParaRPr lang="en-US" sz="3000" dirty="0"/>
          </a:p>
        </p:txBody>
      </p:sp>
      <p:sp>
        <p:nvSpPr>
          <p:cNvPr id="5" name="Text 3"/>
          <p:cNvSpPr txBox="1"/>
          <p:nvPr/>
        </p:nvSpPr>
        <p:spPr>
          <a:xfrm>
            <a:off x="548640" y="1463040"/>
            <a:ext cx="11091672" cy="548640"/>
          </a:xfrm>
          <a:prstGeom prst="rect">
            <a:avLst/>
          </a:prstGeom>
          <a:noFill/>
          <a:ln/>
        </p:spPr>
        <p:txBody>
          <a:bodyPr wrap="square" lIns="0" tIns="0" rIns="0" bIns="0" rtlCol="0" anchor="ctr"/>
          <a:lstStyle/>
          <a:p>
            <a:pPr indent="0" marL="0">
              <a:buNone/>
            </a:pPr>
            <a:r>
              <a:rPr lang="en-US" sz="1800" i="1" dirty="0">
                <a:solidFill>
                  <a:srgbClr val="000000"/>
                </a:solidFill>
                <a:latin typeface="Times New Roman" pitchFamily="34" charset="0"/>
                <a:ea typeface="Times New Roman" pitchFamily="34" charset="-122"/>
                <a:cs typeface="Times New Roman" pitchFamily="34" charset="-120"/>
              </a:rPr>
              <a:t>This project has one general objective and one specific objective.</a:t>
            </a:r>
            <a:endParaRPr lang="en-US" sz="1800" dirty="0"/>
          </a:p>
        </p:txBody>
      </p:sp>
      <p:sp>
        <p:nvSpPr>
          <p:cNvPr id="6" name="Text 4"/>
          <p:cNvSpPr txBox="1"/>
          <p:nvPr/>
        </p:nvSpPr>
        <p:spPr>
          <a:xfrm>
            <a:off x="548640" y="2286000"/>
            <a:ext cx="11091672" cy="32004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To build a smarter, more personalized version of ByteStore that helps customers find relevant products on their own, instead of searching through the whole catalog by hand.</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To do this using Collaborative Filtering and Content-Based Filtering, both computed using Cosine Similarity.</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6</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Methodology</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Evolutionary / Incremental Development model.</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 basic working version is built first, then improved in stages.</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Room to revisit and adjust earlier parts as needed.</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Fits a solo project better than a strict Waterfall approach.</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7</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Existing System &amp; Literature Review</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Plain PHP/MySQL e-commerce systems reviewed: functional, but no personalization at all.</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Etsy already combines content-based and collaborative signals to personalize its homepage and search.</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 smaller open-source PHP project also pairs collaborative and content-based filtering for e-commerce.</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Academic literature backs combining both methods, tied together with Cosine Similarity.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8</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Requirement Analysis</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System builds a purchase record per customer, and an attribute profile per product.</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Cosine Similarity is used both to compare customers and to compare products.</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System generates a combined, ranked recommendation list.</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No special hardware or training time needed — a small increase in page load time is expected.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9</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Feasibility Study</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Technical: Built entirely with PHP and MySQL, already in use for ByteStore.</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Economic: No additional cost — all tools used are free.</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Operational: Recommendations appear on pages customers already use, with nothing new to learn.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10</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Working Mechanism of Proposed System</a:t>
            </a:r>
            <a:endParaRPr lang="en-US" sz="3000" dirty="0"/>
          </a:p>
        </p:txBody>
      </p:sp>
      <p:sp>
        <p:nvSpPr>
          <p:cNvPr id="5" name="Shape 3"/>
          <p:cNvSpPr/>
          <p:nvPr/>
        </p:nvSpPr>
        <p:spPr>
          <a:xfrm>
            <a:off x="1828800" y="1463040"/>
            <a:ext cx="8531352" cy="4206240"/>
          </a:xfrm>
          <a:prstGeom prst="rect">
            <a:avLst/>
          </a:prstGeom>
          <a:solidFill>
            <a:srgbClr val="FFFFFF"/>
          </a:solidFill>
          <a:ln w="19050">
            <a:solidFill>
              <a:srgbClr val="000000"/>
            </a:solidFill>
            <a:prstDash val="solid"/>
          </a:ln>
        </p:spPr>
      </p:sp>
      <p:sp>
        <p:nvSpPr>
          <p:cNvPr id="6" name="Text 4"/>
          <p:cNvSpPr txBox="1"/>
          <p:nvPr/>
        </p:nvSpPr>
        <p:spPr>
          <a:xfrm>
            <a:off x="1828800" y="1463040"/>
            <a:ext cx="8531352" cy="4206240"/>
          </a:xfrm>
          <a:prstGeom prst="rect">
            <a:avLst/>
          </a:prstGeom>
          <a:noFill/>
          <a:ln/>
        </p:spPr>
        <p:txBody>
          <a:bodyPr wrap="square" lIns="0" tIns="0" rIns="0" bIns="0" rtlCol="0" anchor="ctr"/>
          <a:lstStyle/>
          <a:p>
            <a:pPr algn="ctr" indent="0" marL="0">
              <a:buNone/>
            </a:pPr>
            <a:r>
              <a:rPr lang="en-US" sz="2000" i="1" dirty="0">
                <a:solidFill>
                  <a:srgbClr val="000000"/>
                </a:solidFill>
                <a:latin typeface="Times New Roman" pitchFamily="34" charset="0"/>
                <a:ea typeface="Times New Roman" pitchFamily="34" charset="-122"/>
                <a:cs typeface="Times New Roman" pitchFamily="34" charset="-120"/>
              </a:rPr>
              <a:t>[Insert System Diagram here]</a:t>
            </a:r>
            <a:endParaRPr lang="en-US" sz="2000" dirty="0"/>
          </a:p>
        </p:txBody>
      </p:sp>
      <p:sp>
        <p:nvSpPr>
          <p:cNvPr id="7" name="Text 5"/>
          <p:cNvSpPr txBox="1"/>
          <p:nvPr/>
        </p:nvSpPr>
        <p:spPr>
          <a:xfrm>
            <a:off x="548640" y="5669280"/>
            <a:ext cx="11091672" cy="411480"/>
          </a:xfrm>
          <a:prstGeom prst="rect">
            <a:avLst/>
          </a:prstGeom>
          <a:noFill/>
          <a:ln/>
        </p:spPr>
        <p:txBody>
          <a:bodyPr wrap="square" lIns="0" tIns="0" rIns="0" bIns="0" rtlCol="0" anchor="ctr"/>
          <a:lstStyle/>
          <a:p>
            <a:pPr algn="ctr" indent="0" marL="0">
              <a:buNone/>
            </a:pPr>
            <a:r>
              <a:rPr lang="en-US" sz="1400" i="1" dirty="0">
                <a:solidFill>
                  <a:srgbClr val="000000"/>
                </a:solidFill>
                <a:latin typeface="Times New Roman" pitchFamily="34" charset="0"/>
                <a:ea typeface="Times New Roman" pitchFamily="34" charset="-122"/>
                <a:cs typeface="Times New Roman" pitchFamily="34" charset="-120"/>
              </a:rPr>
              <a:t>Figure: System Diagram for ByteStore Recommendation System</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11</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Flow Chart</a:t>
            </a:r>
            <a:endParaRPr lang="en-US" sz="3000" dirty="0"/>
          </a:p>
        </p:txBody>
      </p:sp>
      <p:sp>
        <p:nvSpPr>
          <p:cNvPr id="5" name="Shape 3"/>
          <p:cNvSpPr/>
          <p:nvPr/>
        </p:nvSpPr>
        <p:spPr>
          <a:xfrm>
            <a:off x="1828800" y="1463040"/>
            <a:ext cx="8531352" cy="4206240"/>
          </a:xfrm>
          <a:prstGeom prst="rect">
            <a:avLst/>
          </a:prstGeom>
          <a:solidFill>
            <a:srgbClr val="FFFFFF"/>
          </a:solidFill>
          <a:ln w="19050">
            <a:solidFill>
              <a:srgbClr val="000000"/>
            </a:solidFill>
            <a:prstDash val="solid"/>
          </a:ln>
        </p:spPr>
      </p:sp>
      <p:sp>
        <p:nvSpPr>
          <p:cNvPr id="6" name="Text 4"/>
          <p:cNvSpPr txBox="1"/>
          <p:nvPr/>
        </p:nvSpPr>
        <p:spPr>
          <a:xfrm>
            <a:off x="1828800" y="1463040"/>
            <a:ext cx="8531352" cy="4206240"/>
          </a:xfrm>
          <a:prstGeom prst="rect">
            <a:avLst/>
          </a:prstGeom>
          <a:noFill/>
          <a:ln/>
        </p:spPr>
        <p:txBody>
          <a:bodyPr wrap="square" lIns="0" tIns="0" rIns="0" bIns="0" rtlCol="0" anchor="ctr"/>
          <a:lstStyle/>
          <a:p>
            <a:pPr algn="ctr" indent="0" marL="0">
              <a:buNone/>
            </a:pPr>
            <a:r>
              <a:rPr lang="en-US" sz="2000" i="1" dirty="0">
                <a:solidFill>
                  <a:srgbClr val="000000"/>
                </a:solidFill>
                <a:latin typeface="Times New Roman" pitchFamily="34" charset="0"/>
                <a:ea typeface="Times New Roman" pitchFamily="34" charset="-122"/>
                <a:cs typeface="Times New Roman" pitchFamily="34" charset="-120"/>
              </a:rPr>
              <a:t>[Insert Flow Chart here]</a:t>
            </a:r>
            <a:endParaRPr lang="en-US" sz="2000" dirty="0"/>
          </a:p>
        </p:txBody>
      </p:sp>
      <p:sp>
        <p:nvSpPr>
          <p:cNvPr id="7" name="Text 5"/>
          <p:cNvSpPr txBox="1"/>
          <p:nvPr/>
        </p:nvSpPr>
        <p:spPr>
          <a:xfrm>
            <a:off x="548640" y="5669280"/>
            <a:ext cx="11091672" cy="411480"/>
          </a:xfrm>
          <a:prstGeom prst="rect">
            <a:avLst/>
          </a:prstGeom>
          <a:noFill/>
          <a:ln/>
        </p:spPr>
        <p:txBody>
          <a:bodyPr wrap="square" lIns="0" tIns="0" rIns="0" bIns="0" rtlCol="0" anchor="ctr"/>
          <a:lstStyle/>
          <a:p>
            <a:pPr algn="ctr" indent="0" marL="0">
              <a:buNone/>
            </a:pPr>
            <a:r>
              <a:rPr lang="en-US" sz="1400" i="1" dirty="0">
                <a:solidFill>
                  <a:srgbClr val="000000"/>
                </a:solidFill>
                <a:latin typeface="Times New Roman" pitchFamily="34" charset="0"/>
                <a:ea typeface="Times New Roman" pitchFamily="34" charset="-122"/>
                <a:cs typeface="Times New Roman" pitchFamily="34" charset="-120"/>
              </a:rPr>
              <a:t>Figure: Flow Chart for ByteStore Recommendation Process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12</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ER Diagram</a:t>
            </a:r>
            <a:endParaRPr lang="en-US" sz="3000" dirty="0"/>
          </a:p>
        </p:txBody>
      </p:sp>
      <p:sp>
        <p:nvSpPr>
          <p:cNvPr id="5" name="Shape 3"/>
          <p:cNvSpPr/>
          <p:nvPr/>
        </p:nvSpPr>
        <p:spPr>
          <a:xfrm>
            <a:off x="1828800" y="1463040"/>
            <a:ext cx="8531352" cy="4206240"/>
          </a:xfrm>
          <a:prstGeom prst="rect">
            <a:avLst/>
          </a:prstGeom>
          <a:solidFill>
            <a:srgbClr val="FFFFFF"/>
          </a:solidFill>
          <a:ln w="19050">
            <a:solidFill>
              <a:srgbClr val="000000"/>
            </a:solidFill>
            <a:prstDash val="solid"/>
          </a:ln>
        </p:spPr>
      </p:sp>
      <p:sp>
        <p:nvSpPr>
          <p:cNvPr id="6" name="Text 4"/>
          <p:cNvSpPr txBox="1"/>
          <p:nvPr/>
        </p:nvSpPr>
        <p:spPr>
          <a:xfrm>
            <a:off x="1828800" y="1463040"/>
            <a:ext cx="8531352" cy="4206240"/>
          </a:xfrm>
          <a:prstGeom prst="rect">
            <a:avLst/>
          </a:prstGeom>
          <a:noFill/>
          <a:ln/>
        </p:spPr>
        <p:txBody>
          <a:bodyPr wrap="square" lIns="0" tIns="0" rIns="0" bIns="0" rtlCol="0" anchor="ctr"/>
          <a:lstStyle/>
          <a:p>
            <a:pPr algn="ctr" indent="0" marL="0">
              <a:buNone/>
            </a:pPr>
            <a:r>
              <a:rPr lang="en-US" sz="2000" i="1" dirty="0">
                <a:solidFill>
                  <a:srgbClr val="000000"/>
                </a:solidFill>
                <a:latin typeface="Times New Roman" pitchFamily="34" charset="0"/>
                <a:ea typeface="Times New Roman" pitchFamily="34" charset="-122"/>
                <a:cs typeface="Times New Roman" pitchFamily="34" charset="-120"/>
              </a:rPr>
              <a:t>[Insert ER Diagram here]</a:t>
            </a:r>
            <a:endParaRPr lang="en-US" sz="2000" dirty="0"/>
          </a:p>
        </p:txBody>
      </p:sp>
      <p:sp>
        <p:nvSpPr>
          <p:cNvPr id="7" name="Text 5"/>
          <p:cNvSpPr txBox="1"/>
          <p:nvPr/>
        </p:nvSpPr>
        <p:spPr>
          <a:xfrm>
            <a:off x="548640" y="5669280"/>
            <a:ext cx="11091672" cy="411480"/>
          </a:xfrm>
          <a:prstGeom prst="rect">
            <a:avLst/>
          </a:prstGeom>
          <a:noFill/>
          <a:ln/>
        </p:spPr>
        <p:txBody>
          <a:bodyPr wrap="square" lIns="0" tIns="0" rIns="0" bIns="0" rtlCol="0" anchor="ctr"/>
          <a:lstStyle/>
          <a:p>
            <a:pPr algn="ctr" indent="0" marL="0">
              <a:buNone/>
            </a:pPr>
            <a:r>
              <a:rPr lang="en-US" sz="1400" i="1" dirty="0">
                <a:solidFill>
                  <a:srgbClr val="000000"/>
                </a:solidFill>
                <a:latin typeface="Times New Roman" pitchFamily="34" charset="0"/>
                <a:ea typeface="Times New Roman" pitchFamily="34" charset="-122"/>
                <a:cs typeface="Times New Roman" pitchFamily="34" charset="-120"/>
              </a:rPr>
              <a:t>Figure: ER Diagram for ByteStore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13</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Algorithm: Combining Both Scores</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ContentScore(u, p) = Similarity(Profile_u, Features_p)</a:t>
            </a:r>
            <a:endParaRPr lang="en-US" sz="1800" dirty="0"/>
          </a:p>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CollaborativeScore(u, p) = Similarity(u, similarCustomers) × Purchased(similarCustomers, p)</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FinalScore(u, p) = (α × ContentScore) + (β × CollaborativeScore)</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α and β are weights given to each method (α + β = 1) — for example, α = 0.5 and β = 0.5 gives both equal weight. Products are then sorted by FinalScore, highest first.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14</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Collaborative vs. Content-Based Filtering</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Collaborative Filtering: recommends based on what similar customers have bought (orders and order_items tables).</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Content-Based Filtering: recommends based on a product's own attributes — category, brand, price range.</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Content-Based Filtering works even for a brand-new customer with no purchase history yet.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15</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Algorithm: Cosine Similarity</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cos(θ) = (A · B) / (‖A‖ × ‖B‖)</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This is the Similarity(...) function used inside both scores on the previous slide — once comparing two customers' purchase vectors, once comparing a profile to a product's feature vector.</a:t>
            </a:r>
            <a:endParaRPr lang="en-US" sz="1800" dirty="0"/>
          </a:p>
          <a:p>
            <a:pPr algn="l" indent="0" marL="0">
              <a:lnSpc>
                <a:spcPct val="115000"/>
              </a:lnSpc>
              <a:buNone/>
            </a:pPr>
            <a:endParaRPr lang="en-US" sz="1800" dirty="0"/>
          </a:p>
          <a:p>
            <a:pPr algn="l" indent="0" marL="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Example: Customer A bought a laptop, mouse, and keyboard. Customer B bought a laptop, mouse, and headset. Cosine similarity ≈ 0.667 — the headset becomes a recommendation for A.</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16</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Gantt Chart</a:t>
            </a:r>
            <a:endParaRPr lang="en-US" sz="3000" dirty="0"/>
          </a:p>
        </p:txBody>
      </p:sp>
      <p:sp>
        <p:nvSpPr>
          <p:cNvPr id="5" name="Shape 3"/>
          <p:cNvSpPr/>
          <p:nvPr/>
        </p:nvSpPr>
        <p:spPr>
          <a:xfrm>
            <a:off x="1828800" y="1463040"/>
            <a:ext cx="8531352" cy="4206240"/>
          </a:xfrm>
          <a:prstGeom prst="rect">
            <a:avLst/>
          </a:prstGeom>
          <a:solidFill>
            <a:srgbClr val="FFFFFF"/>
          </a:solidFill>
          <a:ln w="19050">
            <a:solidFill>
              <a:srgbClr val="000000"/>
            </a:solidFill>
            <a:prstDash val="solid"/>
          </a:ln>
        </p:spPr>
      </p:sp>
      <p:sp>
        <p:nvSpPr>
          <p:cNvPr id="6" name="Text 4"/>
          <p:cNvSpPr txBox="1"/>
          <p:nvPr/>
        </p:nvSpPr>
        <p:spPr>
          <a:xfrm>
            <a:off x="1828800" y="1463040"/>
            <a:ext cx="8531352" cy="4206240"/>
          </a:xfrm>
          <a:prstGeom prst="rect">
            <a:avLst/>
          </a:prstGeom>
          <a:noFill/>
          <a:ln/>
        </p:spPr>
        <p:txBody>
          <a:bodyPr wrap="square" lIns="0" tIns="0" rIns="0" bIns="0" rtlCol="0" anchor="ctr"/>
          <a:lstStyle/>
          <a:p>
            <a:pPr algn="ctr" indent="0" marL="0">
              <a:buNone/>
            </a:pPr>
            <a:r>
              <a:rPr lang="en-US" sz="2000" i="1" dirty="0">
                <a:solidFill>
                  <a:srgbClr val="000000"/>
                </a:solidFill>
                <a:latin typeface="Times New Roman" pitchFamily="34" charset="0"/>
                <a:ea typeface="Times New Roman" pitchFamily="34" charset="-122"/>
                <a:cs typeface="Times New Roman" pitchFamily="34" charset="-120"/>
              </a:rPr>
              <a:t>[Insert Gantt Chart here]</a:t>
            </a:r>
            <a:endParaRPr lang="en-US" sz="2000" dirty="0"/>
          </a:p>
        </p:txBody>
      </p:sp>
      <p:sp>
        <p:nvSpPr>
          <p:cNvPr id="7" name="Text 5"/>
          <p:cNvSpPr txBox="1"/>
          <p:nvPr/>
        </p:nvSpPr>
        <p:spPr>
          <a:xfrm>
            <a:off x="548640" y="5669280"/>
            <a:ext cx="11091672" cy="411480"/>
          </a:xfrm>
          <a:prstGeom prst="rect">
            <a:avLst/>
          </a:prstGeom>
          <a:noFill/>
          <a:ln/>
        </p:spPr>
        <p:txBody>
          <a:bodyPr wrap="square" lIns="0" tIns="0" rIns="0" bIns="0" rtlCol="0" anchor="ctr"/>
          <a:lstStyle/>
          <a:p>
            <a:pPr algn="ctr" indent="0" marL="0">
              <a:buNone/>
            </a:pPr>
            <a:r>
              <a:rPr lang="en-US" sz="1400" i="1" dirty="0">
                <a:solidFill>
                  <a:srgbClr val="000000"/>
                </a:solidFill>
                <a:latin typeface="Times New Roman" pitchFamily="34" charset="0"/>
                <a:ea typeface="Times New Roman" pitchFamily="34" charset="-122"/>
                <a:cs typeface="Times New Roman" pitchFamily="34" charset="-120"/>
              </a:rPr>
              <a:t>Figure: Gantt Chart for ByteStore Project II (Sep 2026 – Feb 2027)</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17</a:t>
            </a:r>
            <a:endParaRPr lang="en-US" sz="1200" dirty="0"/>
          </a:p>
        </p:txBody>
      </p:sp>
      <p:sp>
        <p:nvSpPr>
          <p:cNvPr id="4" name="Text 2"/>
          <p:cNvSpPr txBox="1"/>
          <p:nvPr/>
        </p:nvSpPr>
        <p:spPr>
          <a:xfrm>
            <a:off x="548640" y="365760"/>
            <a:ext cx="11091672" cy="822960"/>
          </a:xfrm>
          <a:prstGeom prst="rect">
            <a:avLst/>
          </a:prstGeom>
          <a:noFill/>
          <a:ln/>
        </p:spPr>
        <p:txBody>
          <a:bodyPr wrap="square" lIns="0" tIns="0" rIns="0" bIns="0" rtlCol="0" anchor="ctr"/>
          <a:lstStyle/>
          <a:p>
            <a:pPr algn="l" indent="0" marL="0">
              <a:buNone/>
            </a:pPr>
            <a:r>
              <a:rPr lang="en-US" sz="3000" b="1" dirty="0">
                <a:solidFill>
                  <a:srgbClr val="000000"/>
                </a:solidFill>
                <a:latin typeface="Times New Roman" pitchFamily="34" charset="0"/>
                <a:ea typeface="Times New Roman" pitchFamily="34" charset="-122"/>
                <a:cs typeface="Times New Roman" pitchFamily="34" charset="-120"/>
              </a:rPr>
              <a:t>Expected Outcome</a:t>
            </a:r>
            <a:endParaRPr lang="en-US" sz="3000" dirty="0"/>
          </a:p>
        </p:txBody>
      </p:sp>
      <p:sp>
        <p:nvSpPr>
          <p:cNvPr id="5" name="Text 3"/>
          <p:cNvSpPr txBox="1"/>
          <p:nvPr/>
        </p:nvSpPr>
        <p:spPr>
          <a:xfrm>
            <a:off x="548640" y="1371600"/>
            <a:ext cx="11091672" cy="47548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 working Collaborative Filtering module based on purchase history.</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 working Content-Based Filtering module based on product attributes.</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 combined, ranked recommendation list shown to each customer.</a:t>
            </a:r>
            <a:endParaRPr lang="en-US" sz="1800" dirty="0"/>
          </a:p>
          <a:p>
            <a:pPr marL="342900" indent="-342900">
              <a:spcAft>
                <a:spcPts val="1000"/>
              </a:spcAft>
              <a:buSzPct val="100000"/>
              <a:buChar char="•"/>
            </a:pPr>
            <a:r>
              <a:rPr lang="en-US" sz="1800" dirty="0">
                <a:solidFill>
                  <a:srgbClr val="000000"/>
                </a:solidFill>
                <a:latin typeface="Times New Roman" pitchFamily="34" charset="0"/>
                <a:ea typeface="Times New Roman" pitchFamily="34" charset="-122"/>
                <a:cs typeface="Times New Roman" pitchFamily="34" charset="-120"/>
              </a:rPr>
              <a:t>A practical, working demonstration of similarity-based recommendation on a real system.</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2286000" cy="320040"/>
          </a:xfrm>
          <a:prstGeom prst="rect">
            <a:avLst/>
          </a:prstGeom>
          <a:noFill/>
          <a:ln/>
        </p:spPr>
        <p:txBody>
          <a:bodyPr wrap="square" lIns="0" tIns="0" rIns="0" bIns="0" rtlCol="0" anchor="ctr"/>
          <a:lstStyle/>
          <a:p>
            <a:pPr algn="l" indent="0" marL="0">
              <a:buNone/>
            </a:pPr>
            <a:r>
              <a:rPr lang="en-US" sz="1200" dirty="0">
                <a:solidFill>
                  <a:srgbClr val="000000"/>
                </a:solidFill>
                <a:latin typeface="Times New Roman" pitchFamily="34" charset="0"/>
                <a:ea typeface="Times New Roman" pitchFamily="34" charset="-122"/>
                <a:cs typeface="Times New Roman" pitchFamily="34" charset="-120"/>
              </a:rPr>
              <a:t>10/3/2026</a:t>
            </a:r>
            <a:endParaRPr lang="en-US" sz="1200" dirty="0"/>
          </a:p>
        </p:txBody>
      </p:sp>
      <p:sp>
        <p:nvSpPr>
          <p:cNvPr id="3" name="Text 1"/>
          <p:cNvSpPr txBox="1"/>
          <p:nvPr/>
        </p:nvSpPr>
        <p:spPr>
          <a:xfrm>
            <a:off x="11091672" y="6400800"/>
            <a:ext cx="548640" cy="320040"/>
          </a:xfrm>
          <a:prstGeom prst="rect">
            <a:avLst/>
          </a:prstGeom>
          <a:noFill/>
          <a:ln/>
        </p:spPr>
        <p:txBody>
          <a:bodyPr wrap="square" lIns="0" tIns="0" rIns="0" bIns="0" rtlCol="0" anchor="ctr"/>
          <a:lstStyle/>
          <a:p>
            <a:pPr algn="r" indent="0" marL="0">
              <a:buNone/>
            </a:pPr>
            <a:r>
              <a:rPr lang="en-US" sz="1200" dirty="0">
                <a:solidFill>
                  <a:srgbClr val="000000"/>
                </a:solidFill>
                <a:latin typeface="Times New Roman" pitchFamily="34" charset="0"/>
                <a:ea typeface="Times New Roman" pitchFamily="34" charset="-122"/>
                <a:cs typeface="Times New Roman" pitchFamily="34" charset="-120"/>
              </a:rPr>
              <a:t>18</a:t>
            </a:r>
            <a:endParaRPr lang="en-US" sz="1200" dirty="0"/>
          </a:p>
        </p:txBody>
      </p:sp>
      <p:sp>
        <p:nvSpPr>
          <p:cNvPr id="4" name="Text 2"/>
          <p:cNvSpPr txBox="1"/>
          <p:nvPr/>
        </p:nvSpPr>
        <p:spPr>
          <a:xfrm>
            <a:off x="0" y="2560320"/>
            <a:ext cx="12188952" cy="914400"/>
          </a:xfrm>
          <a:prstGeom prst="rect">
            <a:avLst/>
          </a:prstGeom>
          <a:noFill/>
          <a:ln/>
        </p:spPr>
        <p:txBody>
          <a:bodyPr wrap="square" lIns="0" tIns="0" rIns="0" bIns="0" rtlCol="0" anchor="ctr"/>
          <a:lstStyle/>
          <a:p>
            <a:pPr algn="ctr" indent="0" marL="0">
              <a:buNone/>
            </a:pPr>
            <a:r>
              <a:rPr lang="en-US" sz="4000" b="1" dirty="0">
                <a:solidFill>
                  <a:srgbClr val="000000"/>
                </a:solidFill>
                <a:latin typeface="Times New Roman" pitchFamily="34" charset="0"/>
                <a:ea typeface="Times New Roman" pitchFamily="34" charset="-122"/>
                <a:cs typeface="Times New Roman" pitchFamily="34" charset="-120"/>
              </a:rPr>
              <a:t>Thank You</a:t>
            </a:r>
            <a:endParaRPr lang="en-US" sz="4000" dirty="0"/>
          </a:p>
        </p:txBody>
      </p:sp>
      <p:sp>
        <p:nvSpPr>
          <p:cNvPr id="5" name="Text 3"/>
          <p:cNvSpPr txBox="1"/>
          <p:nvPr/>
        </p:nvSpPr>
        <p:spPr>
          <a:xfrm>
            <a:off x="0" y="3474720"/>
            <a:ext cx="12188952" cy="548640"/>
          </a:xfrm>
          <a:prstGeom prst="rect">
            <a:avLst/>
          </a:prstGeom>
          <a:noFill/>
          <a:ln/>
        </p:spPr>
        <p:txBody>
          <a:bodyPr wrap="square" lIns="0" tIns="0" rIns="0" bIns="0" rtlCol="0" anchor="ctr"/>
          <a:lstStyle/>
          <a:p>
            <a:pPr algn="ctr" indent="0" marL="0">
              <a:buNone/>
            </a:pPr>
            <a:r>
              <a:rPr lang="en-US" sz="2200" i="1" dirty="0">
                <a:solidFill>
                  <a:srgbClr val="000000"/>
                </a:solidFill>
                <a:latin typeface="Times New Roman" pitchFamily="34" charset="0"/>
                <a:ea typeface="Times New Roman" pitchFamily="34" charset="-122"/>
                <a:cs typeface="Times New Roman" pitchFamily="34" charset="-120"/>
              </a:rPr>
              <a:t>Questions?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2026-10-03T14:11:46Z</dcterms:created>
  <dcterms:modified xsi:type="dcterms:W3CDTF">2026-10-03T14:11:46Z</dcterms:modified>
</cp:coreProperties>
</file>